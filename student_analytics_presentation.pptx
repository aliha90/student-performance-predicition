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8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3A8A"/>
                </a:solidFill>
                <a:latin typeface="Arial"/>
              </a:rPr>
              <a:t>Model Accuracy &amp; F1-Score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 Reg.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SVM (RBF)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68</c:v>
                </c:pt>
                <c:pt idx="2">
                  <c:v>72.5</c:v>
                </c:pt>
                <c:pt idx="3">
                  <c:v>74.7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 Reg.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SVM (RBF)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42.6</c:v>
                </c:pt>
                <c:pt idx="1">
                  <c:v>35.8</c:v>
                </c:pt>
                <c:pt idx="2">
                  <c:v>40.5</c:v>
                </c:pt>
                <c:pt idx="3">
                  <c:v>40.2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8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3A8A"/>
                </a:solidFill>
                <a:latin typeface="Arial"/>
              </a:rPr>
              <a:t>AUC-ROC Score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 Reg.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SVM (RBF)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0.745</c:v>
                </c:pt>
                <c:pt idx="1">
                  <c:v>0.673</c:v>
                </c:pt>
                <c:pt idx="2">
                  <c:v>0.732</c:v>
                </c:pt>
                <c:pt idx="3">
                  <c:v>0.704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948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9488"/>
                </a:solidFill>
                <a:latin typeface="Arial"/>
              </a:rPr>
              <a:t>Random Forest Feature Importance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Score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Motivation Level</c:v>
                  </c:pt>
                  <c:pt idx="1">
                    <c:v>Academic Stress</c:v>
                  </c:pt>
                  <c:pt idx="2">
                    <c:v>Social Media Hrs</c:v>
                  </c:pt>
                  <c:pt idx="3">
                    <c:v>Sleep Hrs/Night</c:v>
                  </c:pt>
                  <c:pt idx="4">
                    <c:v>Class Attendance</c:v>
                  </c:pt>
                  <c:pt idx="5">
                    <c:v>Study Hours/Day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0.11</c:v>
                </c:pt>
                <c:pt idx="1">
                  <c:v>0.13</c:v>
                </c:pt>
                <c:pt idx="2">
                  <c:v>0.14</c:v>
                </c:pt>
                <c:pt idx="3">
                  <c:v>0.16</c:v>
                </c:pt>
                <c:pt idx="4">
                  <c:v>0.2</c:v>
                </c:pt>
                <c:pt idx="5">
                  <c:v>0.26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8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3A8A"/>
                </a:solidFill>
                <a:latin typeface="Arial"/>
              </a:rPr>
              <a:t>Accuracy vs. Comparable Studies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Accuracy (%)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A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3A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3A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3A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Asif et al. 2017</c:v>
                  </c:pt>
                  <c:pt idx="1">
                    <c:v>Hussain et al. 2021</c:v>
                  </c:pt>
                  <c:pt idx="2">
                    <c:v>Al-Barrak 2016</c:v>
                  </c:pt>
                  <c:pt idx="3">
                    <c:v>Daud et al. 2022</c:v>
                  </c:pt>
                  <c:pt idx="4">
                    <c:v>This Work (SVM)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</c:v>
                </c:pt>
                <c:pt idx="1">
                  <c:v>71</c:v>
                </c:pt>
                <c:pt idx="2">
                  <c:v>69</c:v>
                </c:pt>
                <c:pt idx="3">
                  <c:v>76.4</c:v>
                </c:pt>
                <c:pt idx="4">
                  <c:v>74.7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6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Study Habits vs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Performance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 for Grade Prediction &amp; Habit Clustering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7772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Aliha  |  Afshan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Management Sciences (IMS), Peshawar, Pakistan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182880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40050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43708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3977640"/>
            <a:ext cx="182880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51760" y="40050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51760" y="43708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977640"/>
            <a:ext cx="182880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40050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74.7%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0" y="43708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3977640"/>
            <a:ext cx="182880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40050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8000" y="43708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502920" cy="457200"/>
          </a:xfrm>
          <a:prstGeom prst="rect">
            <a:avLst/>
          </a:prstGeom>
          <a:solidFill>
            <a:srgbClr val="1E3A8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11556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3441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predict academic performance in Pakistan?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502920" cy="457200"/>
          </a:xfrm>
          <a:prstGeom prst="rect">
            <a:avLst/>
          </a:prstGeom>
          <a:solidFill>
            <a:srgbClr val="1E3A8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7647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73736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965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CTGAN augmentation, preprocessing pipeline, 3,000+ records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40864"/>
            <a:ext cx="502920" cy="457200"/>
          </a:xfrm>
          <a:prstGeom prst="rect">
            <a:avLst/>
          </a:prstGeom>
          <a:solidFill>
            <a:srgbClr val="1E3A8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38658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35915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58775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DT, RF, SVM — implementation and comparison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62656"/>
            <a:ext cx="502920" cy="457200"/>
          </a:xfrm>
          <a:prstGeom prst="rect">
            <a:avLst/>
          </a:prstGeom>
          <a:solidFill>
            <a:srgbClr val="1E3A8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00837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980944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20954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74.7%, AUC-ROC 0.745, feature importance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84448"/>
            <a:ext cx="502920" cy="457200"/>
          </a:xfrm>
          <a:prstGeom prst="rect">
            <a:avLst/>
          </a:prstGeom>
          <a:solidFill>
            <a:srgbClr val="1E3A8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63016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602736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Clustering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83133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K-Means: 3 behavioral archetypes identified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502920" cy="457200"/>
          </a:xfrm>
          <a:prstGeom prst="rect">
            <a:avLst/>
          </a:prstGeom>
          <a:solidFill>
            <a:srgbClr val="1E3A8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2519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422452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Predictor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44531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Score-based performance predictor &amp; dashboard walkthrough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12480" y="1097280"/>
            <a:ext cx="274320" cy="3657600"/>
          </a:xfrm>
          <a:prstGeom prst="rect">
            <a:avLst/>
          </a:prstGeom>
          <a:solidFill>
            <a:srgbClr val="DBEAF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78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3619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40% of IMS students show declining performance by Semester 3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2276856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4028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systematic, data-driven early-warning system exists at IMS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980944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4436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ML studies use Western datasets — poor transferability to Pakistan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3685032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64845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Survey-based research exists but lacks predictive power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393192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078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92040" y="1572768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257800" y="153619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multi-model ML pipeline on local Pakistani student data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92040" y="2276856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257800" y="224028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top behavioral drivers of academic performance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92040" y="298094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0" y="294436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students into actionable behavioral archetypes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92040" y="3685032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364845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 interactive prediction dashboard for advisors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508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50876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42416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Collection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responses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features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 Peshawar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2560320"/>
            <a:ext cx="21031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3392" y="1005840"/>
            <a:ext cx="1508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93392" y="1005840"/>
            <a:ext cx="150876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993392" y="1042416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39112" y="15087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CTGAN Augmentation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84832" y="201168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3,000+ records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Distrib. preserved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02152" y="2560320"/>
            <a:ext cx="21031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12464" y="1005840"/>
            <a:ext cx="1508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12464" y="1005840"/>
            <a:ext cx="15087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712464" y="1042416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58184" y="15087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03904" y="201168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Dedup, outlier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removal, encoding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21224" y="2560320"/>
            <a:ext cx="21031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31536" y="1005840"/>
            <a:ext cx="1508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31536" y="1005840"/>
            <a:ext cx="150876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5431536" y="1042416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77256" y="15087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22976" y="201168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core features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validation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40296" y="2560320"/>
            <a:ext cx="21031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50608" y="1005840"/>
            <a:ext cx="1508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50608" y="1005840"/>
            <a:ext cx="150876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7150608" y="1042416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96328" y="15087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42048" y="201168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DT, RF, SVM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251960"/>
            <a:ext cx="8595360" cy="68580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 Study Hours/Day  ·  Class Attendance (%)  ·  Sleep Hours/Night  ·  Social Media Hours  ·  Stress Level (1-5)  ·  Motivation (1-5)  ·  Semester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920240" cy="3840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1920240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42416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5727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176272"/>
            <a:ext cx="1554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24028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247802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2402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88720" y="247802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834640"/>
            <a:ext cx="1554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907792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 straight boundary between grade classes. Linear baseline — fast &amp; interpretable.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23160" y="1005840"/>
            <a:ext cx="1920240" cy="3840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23160" y="1005840"/>
            <a:ext cx="192024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2423160" y="1042416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468880" y="15727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06040" y="2176272"/>
            <a:ext cx="1554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224028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68880" y="247802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68.0%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22402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247802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606040" y="2834640"/>
            <a:ext cx="1554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2907792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yes/no questions (Is attendance &gt; 75%?). Human-readable rules for advisors.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1005840"/>
            <a:ext cx="1920240" cy="3840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1005840"/>
            <a:ext cx="192024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4617720" y="1042416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663440" y="15727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00600" y="2176272"/>
            <a:ext cx="1554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24028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63440" y="247802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72.5%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77840" y="22402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77840" y="247802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0.732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00600" y="2834640"/>
            <a:ext cx="1554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907792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 vote together. Most robust + gives feature importance rankings.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12280" y="1005840"/>
            <a:ext cx="1920240" cy="3840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812280" y="1005840"/>
            <a:ext cx="192024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6812280" y="1042416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858000" y="15727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(RBF Kernel)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995160" y="2176272"/>
            <a:ext cx="1554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0" y="224028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58000" y="247802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74.7% ★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772400" y="22402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772400" y="247802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0.704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995160" y="2834640"/>
            <a:ext cx="1554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03720" y="2907792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widest margin gap between classes. Best overall accuracy in this study.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669280" y="1005840"/>
          <a:ext cx="3200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669280" y="2971800"/>
            <a:ext cx="3200400" cy="192024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760720" y="30358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742432" y="3456432"/>
            <a:ext cx="146304" cy="14630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9" name="Text 5"/>
          <p:cNvSpPr/>
          <p:nvPr/>
        </p:nvSpPr>
        <p:spPr>
          <a:xfrm>
            <a:off x="5989320" y="34198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SVM: highest accuracy (74.7%)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742432" y="3712464"/>
            <a:ext cx="146304" cy="14630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1" name="Text 7"/>
          <p:cNvSpPr/>
          <p:nvPr/>
        </p:nvSpPr>
        <p:spPr>
          <a:xfrm>
            <a:off x="5989320" y="36758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LR: best AUC-ROC (0.745)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742432" y="3968496"/>
            <a:ext cx="146304" cy="14630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3" name="Text 9"/>
          <p:cNvSpPr/>
          <p:nvPr/>
        </p:nvSpPr>
        <p:spPr>
          <a:xfrm>
            <a:off x="5989320" y="3931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beat random baseline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742432" y="4224528"/>
            <a:ext cx="146304" cy="14630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5" name="Text 11"/>
          <p:cNvSpPr/>
          <p:nvPr/>
        </p:nvSpPr>
        <p:spPr>
          <a:xfrm>
            <a:off x="5989320" y="41879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recall = class imbalance issue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742432" y="4480560"/>
            <a:ext cx="146304" cy="14630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7" name="Text 13"/>
          <p:cNvSpPr/>
          <p:nvPr/>
        </p:nvSpPr>
        <p:spPr>
          <a:xfrm>
            <a:off x="5989320" y="444398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favors SVM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SHAP Analysis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1005840"/>
            <a:ext cx="3383280" cy="3840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577840" y="10789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Directional Effects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577840" y="1536192"/>
            <a:ext cx="32004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50992" y="1600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Study Hours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818120" y="1581912"/>
            <a:ext cx="822960" cy="3108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7818120" y="158191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577840" y="2057400"/>
            <a:ext cx="32004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50992" y="21214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Attendance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818120" y="2103120"/>
            <a:ext cx="822960" cy="3108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7818120" y="210312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577840" y="2578608"/>
            <a:ext cx="32004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650992" y="26426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Motivation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818120" y="2624328"/>
            <a:ext cx="822960" cy="3108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7818120" y="262432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577840" y="3099816"/>
            <a:ext cx="32004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650992" y="316382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Social Media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818120" y="3145536"/>
            <a:ext cx="822960" cy="3108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19"/>
          <p:cNvSpPr/>
          <p:nvPr/>
        </p:nvSpPr>
        <p:spPr>
          <a:xfrm>
            <a:off x="7818120" y="3145536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577840" y="3621024"/>
            <a:ext cx="32004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650992" y="36850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Stress Level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818120" y="3666744"/>
            <a:ext cx="822960" cy="3108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3"/>
          <p:cNvSpPr/>
          <p:nvPr/>
        </p:nvSpPr>
        <p:spPr>
          <a:xfrm>
            <a:off x="7818120" y="3666744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577840" y="4142232"/>
            <a:ext cx="32004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650992" y="4206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Sleep Hours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818120" y="4187952"/>
            <a:ext cx="822960" cy="3108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7"/>
          <p:cNvSpPr/>
          <p:nvPr/>
        </p:nvSpPr>
        <p:spPr>
          <a:xfrm>
            <a:off x="7818120" y="418795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Behavioral Clustering (K-Means, k=3)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435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Learners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9164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6550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study hours (5.8/day)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14884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1122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attendance (87%)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60604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25694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social media (1.8 hrs)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06324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30266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stress (2.1/5)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52044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4838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motivation (4.1/5)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187952"/>
            <a:ext cx="256032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2245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HIGH performers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96012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960120"/>
            <a:ext cx="274320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1005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12435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Performers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83280" y="169164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3593592" y="16550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study hours (3.5/day)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83280" y="214884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3593592" y="21122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attendance (73%)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83280" y="260604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3593592" y="25694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social media (3.2 hrs)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83280" y="306324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3593592" y="30266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stress (3.0/5)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83280" y="352044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3593592" y="34838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motivation (3.0/5)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337560" y="4187952"/>
            <a:ext cx="256032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3337560" y="42245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MEDIUM performers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96012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960120"/>
            <a:ext cx="2743200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1005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09360" y="12435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Students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55080" y="1691640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6565392" y="16550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study hours (1.8/day)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55080" y="2148840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6565392" y="21122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attendance (58%)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55080" y="2606040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5" name="Text 43"/>
          <p:cNvSpPr/>
          <p:nvPr/>
        </p:nvSpPr>
        <p:spPr>
          <a:xfrm>
            <a:off x="6565392" y="25694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social media (5.6 hrs)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355080" y="3063240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7" name="Text 45"/>
          <p:cNvSpPr/>
          <p:nvPr/>
        </p:nvSpPr>
        <p:spPr>
          <a:xfrm>
            <a:off x="6565392" y="30266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stress (3.9/5)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355080" y="3520440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6565392" y="34838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motivation (2.1/5)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309360" y="4187952"/>
            <a:ext cx="256032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1" name="Text 49"/>
          <p:cNvSpPr/>
          <p:nvPr/>
        </p:nvSpPr>
        <p:spPr>
          <a:xfrm>
            <a:off x="6309360" y="42245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LOW performers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4572000"/>
            <a:ext cx="1645920" cy="0"/>
          </a:xfrm>
          <a:prstGeom prst="rect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Predictor — How It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3840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155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Parameters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73152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72768"/>
            <a:ext cx="2926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Attendance (%)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77393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100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73152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84832"/>
            <a:ext cx="2926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Level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596896"/>
            <a:ext cx="73152" cy="3200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96896"/>
            <a:ext cx="2926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 / Day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79806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12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73152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108960"/>
            <a:ext cx="2926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Hours / Night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31012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10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621024"/>
            <a:ext cx="73152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621024"/>
            <a:ext cx="2926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Stress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82219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5 (inverted)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133088"/>
            <a:ext cx="73152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133088"/>
            <a:ext cx="2926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Hrs/Day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33425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10 (inverted)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0" y="1051560"/>
            <a:ext cx="4297680" cy="3840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11155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Domain-Knowledge Scoring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17720" y="1572768"/>
            <a:ext cx="292608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09160" y="16367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Attendance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84848" y="1618488"/>
            <a:ext cx="68580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784848" y="161848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17720" y="2084832"/>
            <a:ext cx="292608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09160" y="2148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Level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84848" y="2130552"/>
            <a:ext cx="68580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6784848" y="2130552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17720" y="2596896"/>
            <a:ext cx="292608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09160" y="26609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Hours/Day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784848" y="2642616"/>
            <a:ext cx="685800" cy="2926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7" name="Text 35"/>
          <p:cNvSpPr/>
          <p:nvPr/>
        </p:nvSpPr>
        <p:spPr>
          <a:xfrm>
            <a:off x="6784848" y="2642616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17720" y="3108960"/>
            <a:ext cx="292608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09160" y="31729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Hours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784848" y="3154680"/>
            <a:ext cx="68580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6784848" y="315468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617720" y="3621024"/>
            <a:ext cx="292608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709160" y="36850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Level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784848" y="3666744"/>
            <a:ext cx="685800" cy="2926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5" name="Text 43"/>
          <p:cNvSpPr/>
          <p:nvPr/>
        </p:nvSpPr>
        <p:spPr>
          <a:xfrm>
            <a:off x="6784848" y="3666744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-10%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617720" y="4133088"/>
            <a:ext cx="292608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709160" y="41970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784848" y="4178808"/>
            <a:ext cx="685800" cy="2926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6784848" y="417880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-10%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572000" y="4645152"/>
            <a:ext cx="132588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0" y="464515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035040" y="4645152"/>
            <a:ext cx="132588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6035040" y="464515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498080" y="4645152"/>
            <a:ext cx="132588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5" name="Text 53"/>
          <p:cNvSpPr/>
          <p:nvPr/>
        </p:nvSpPr>
        <p:spPr>
          <a:xfrm>
            <a:off x="7498080" y="464515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Prior Work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577840" y="10241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Unique Contributions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577840" y="1463040"/>
            <a:ext cx="3291840" cy="393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1463040"/>
            <a:ext cx="109728" cy="3931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5760720" y="15361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Pakistan-specific dataset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77840" y="1975104"/>
            <a:ext cx="3291840" cy="393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77840" y="1975104"/>
            <a:ext cx="109728" cy="3931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5760720" y="204825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CTGAN data augmentation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77840" y="2487168"/>
            <a:ext cx="3291840" cy="393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2487168"/>
            <a:ext cx="109728" cy="3931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5760720" y="25603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4-model benchmark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577840" y="2999232"/>
            <a:ext cx="3291840" cy="393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2999232"/>
            <a:ext cx="109728" cy="3931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5760720" y="307238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577840" y="3511296"/>
            <a:ext cx="3291840" cy="393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577840" y="3511296"/>
            <a:ext cx="109728" cy="3931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7"/>
          <p:cNvSpPr/>
          <p:nvPr/>
        </p:nvSpPr>
        <p:spPr>
          <a:xfrm>
            <a:off x="5760720" y="35844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clustering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577840" y="4023360"/>
            <a:ext cx="3291840" cy="393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577840" y="4023360"/>
            <a:ext cx="109728" cy="3931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0"/>
          <p:cNvSpPr/>
          <p:nvPr/>
        </p:nvSpPr>
        <p:spPr>
          <a:xfrm>
            <a:off x="5760720" y="409651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prediction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280160" cy="50292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2471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74.7%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114300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achieved the highest accuracy; Logistic Regression achieved best AUC-ROC (0.745)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64792"/>
            <a:ext cx="1280160" cy="5029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83794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1856232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hours, class attendance, and sleep are the strongest behavioral predictors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78024"/>
            <a:ext cx="1280160" cy="50292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55117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Groups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2569464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identified 3 student archetypes: Engaged, Moderate, and At-Risk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191256"/>
            <a:ext cx="1280160" cy="50292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26440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3282696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 live Streamlit predictor with domain-knowledge scoring for advisors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977640"/>
            <a:ext cx="841248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40416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4041648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for class imbalance  ·  XGBoost / Gradient Boosting  ·  Transformer models for LMS data  ·  Multi-semester longitudinal study  ·  GitHub public release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2907792"/>
            <a:ext cx="64008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9067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Aliha  |  Afshan  ·  IMS Peshawar, Pakistan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749040"/>
            <a:ext cx="164592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Best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40599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74.7% Accuracy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3749040"/>
            <a:ext cx="164592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34640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Best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40599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0.745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749040"/>
            <a:ext cx="164592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40599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Clusters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3749040"/>
            <a:ext cx="164592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CTGAN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0" y="40599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3,000+ Records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Analytics - ML Project</dc:title>
  <dc:subject>PptxGenJS Presentation</dc:subject>
  <dc:creator>PptxGenJS</dc:creator>
  <cp:lastModifiedBy>PptxGenJS</cp:lastModifiedBy>
  <cp:revision>1</cp:revision>
  <dcterms:created xsi:type="dcterms:W3CDTF">2026-06-04T06:23:31Z</dcterms:created>
  <dcterms:modified xsi:type="dcterms:W3CDTF">2026-06-04T06:23:31Z</dcterms:modified>
</cp:coreProperties>
</file>